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78" r:id="rId5"/>
    <p:sldId id="280" r:id="rId6"/>
    <p:sldId id="279" r:id="rId7"/>
    <p:sldId id="283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716" autoAdjust="0"/>
  </p:normalViewPr>
  <p:slideViewPr>
    <p:cSldViewPr snapToGrid="0">
      <p:cViewPr>
        <p:scale>
          <a:sx n="75" d="100"/>
          <a:sy n="75" d="100"/>
        </p:scale>
        <p:origin x="93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“OAuth 2.0 es un estándar de autorización que permite que una aplicación acceda a recursos de un usuario sin manejar su contraseña, usando tokens.”</a:t>
            </a:r>
          </a:p>
          <a:p>
            <a:r>
              <a:rPr lang="es-ES" dirty="0"/>
              <a:t>“La idea central es la delegación de acceso: en lugar de dar mi contraseña, doy permisos limitados y temporales.”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01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“Hoy muchas aplicaciones necesitan acceder a datos del usuario, por ejemplo cuando usamos ‘Iniciar sesión con Google’.”</a:t>
            </a:r>
          </a:p>
          <a:p>
            <a:r>
              <a:rPr lang="es-ES" dirty="0"/>
              <a:t>“El problema es que compartir contraseñas es inseguro y hace responsable a la aplicación de algo que no debería manejar.”</a:t>
            </a:r>
          </a:p>
          <a:p>
            <a:r>
              <a:rPr lang="es-ES" dirty="0"/>
              <a:t>“OAuth soluciona esto evitando que la app vea la contraseña y dejando que el usuario decida qué permisos otorgar.”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998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access token es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llave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temporal que la app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acceder 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Los scopes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definen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qué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puede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hacer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app,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ejemplo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acceder 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perfil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al email.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authorization server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autentica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usuario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token,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mientras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el resource server protege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“El flujo más usado hoy es el </a:t>
            </a:r>
            <a:r>
              <a:rPr lang="es-ES" dirty="0" err="1"/>
              <a:t>Authorization</a:t>
            </a:r>
            <a:r>
              <a:rPr lang="es-ES" dirty="0"/>
              <a:t> </a:t>
            </a:r>
            <a:r>
              <a:rPr lang="es-ES" dirty="0" err="1"/>
              <a:t>Code</a:t>
            </a:r>
            <a:r>
              <a:rPr lang="es-ES" dirty="0"/>
              <a:t> Flow con PKCE.”</a:t>
            </a:r>
          </a:p>
          <a:p>
            <a:r>
              <a:rPr lang="es-ES" dirty="0"/>
              <a:t>“Primero la app redirige al usuario al proveedor, el usuario se autentica y da permiso.”</a:t>
            </a:r>
          </a:p>
          <a:p>
            <a:r>
              <a:rPr lang="es-ES" dirty="0"/>
              <a:t>“Luego la app recibe un token y con ese token puede acceder a la API.”</a:t>
            </a:r>
          </a:p>
          <a:p>
            <a:r>
              <a:rPr lang="es-ES" dirty="0"/>
              <a:t>“Este flujo es seguro y se usa tanto en aplicaciones web, móviles y </a:t>
            </a:r>
            <a:r>
              <a:rPr lang="es-ES" dirty="0" err="1"/>
              <a:t>SPAs</a:t>
            </a:r>
            <a:r>
              <a:rPr lang="es-ES" dirty="0"/>
              <a:t>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71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“El flujo más usado hoy es el </a:t>
            </a:r>
            <a:r>
              <a:rPr lang="es-ES" dirty="0" err="1"/>
              <a:t>Authorization</a:t>
            </a:r>
            <a:r>
              <a:rPr lang="es-ES" dirty="0"/>
              <a:t> </a:t>
            </a:r>
            <a:r>
              <a:rPr lang="es-ES" dirty="0" err="1"/>
              <a:t>Code</a:t>
            </a:r>
            <a:r>
              <a:rPr lang="es-ES" dirty="0"/>
              <a:t> Flow con PKCE.”</a:t>
            </a:r>
          </a:p>
          <a:p>
            <a:r>
              <a:rPr lang="es-ES" dirty="0"/>
              <a:t>“Primero la app redirige al usuario al proveedor, el usuario se autentica y da permiso.”</a:t>
            </a:r>
          </a:p>
          <a:p>
            <a:r>
              <a:rPr lang="es-ES" dirty="0"/>
              <a:t>“Luego la app recibe un token y con ese token puede acceder a la API.”</a:t>
            </a:r>
          </a:p>
          <a:p>
            <a:r>
              <a:rPr lang="es-ES" dirty="0"/>
              <a:t>“Este flujo es seguro y se usa tanto en aplicaciones web, móviles y </a:t>
            </a:r>
            <a:r>
              <a:rPr lang="es-ES" dirty="0" err="1"/>
              <a:t>SPAs</a:t>
            </a:r>
            <a:r>
              <a:rPr lang="es-ES" dirty="0"/>
              <a:t>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4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“Una confusión muy común es pensar que OAuth es </a:t>
            </a:r>
            <a:r>
              <a:rPr lang="es-ES" dirty="0" err="1"/>
              <a:t>login</a:t>
            </a:r>
            <a:r>
              <a:rPr lang="es-ES" dirty="0"/>
              <a:t>.”</a:t>
            </a:r>
          </a:p>
          <a:p>
            <a:r>
              <a:rPr lang="es-ES" dirty="0"/>
              <a:t>“La autenticación responde a quién </a:t>
            </a:r>
            <a:r>
              <a:rPr lang="es-ES" dirty="0" err="1"/>
              <a:t>sos</a:t>
            </a:r>
            <a:r>
              <a:rPr lang="es-ES" dirty="0"/>
              <a:t>, mientras que la autorización define qué permisos tiene una aplicación.”</a:t>
            </a:r>
          </a:p>
          <a:p>
            <a:r>
              <a:rPr lang="es-ES" dirty="0"/>
              <a:t>“OAuth 2.0 se encarga de la autorización. Para </a:t>
            </a:r>
            <a:r>
              <a:rPr lang="es-ES" dirty="0" err="1"/>
              <a:t>login</a:t>
            </a:r>
            <a:r>
              <a:rPr lang="es-ES" dirty="0"/>
              <a:t> real se usa </a:t>
            </a:r>
            <a:r>
              <a:rPr lang="es-ES" dirty="0" err="1"/>
              <a:t>OpenID</a:t>
            </a:r>
            <a:r>
              <a:rPr lang="es-ES" dirty="0"/>
              <a:t> </a:t>
            </a:r>
            <a:r>
              <a:rPr lang="es-ES" dirty="0" err="1"/>
              <a:t>Connect</a:t>
            </a:r>
            <a:r>
              <a:rPr lang="es-ES" dirty="0"/>
              <a:t>.”</a:t>
            </a:r>
          </a:p>
          <a:p>
            <a:r>
              <a:rPr lang="es-ES" dirty="0"/>
              <a:t>“Por eso cuando vemos ‘</a:t>
            </a:r>
            <a:r>
              <a:rPr lang="es-ES" dirty="0" err="1"/>
              <a:t>Login</a:t>
            </a:r>
            <a:r>
              <a:rPr lang="es-ES" dirty="0"/>
              <a:t> con Google’, en realidad hay OAuth más </a:t>
            </a:r>
            <a:r>
              <a:rPr lang="es-ES" dirty="0" err="1"/>
              <a:t>OpenID</a:t>
            </a:r>
            <a:r>
              <a:rPr lang="es-ES" dirty="0"/>
              <a:t> </a:t>
            </a:r>
            <a:r>
              <a:rPr lang="es-ES" dirty="0" err="1"/>
              <a:t>Connect</a:t>
            </a:r>
            <a:r>
              <a:rPr lang="es-ES" dirty="0"/>
              <a:t>.”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676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S PGothic" panose="020B0600070205080204" pitchFamily="34" charset="-128"/>
          <a:ea typeface="MS PGothic" panose="020B0600070205080204" pitchFamily="34" charset="-128"/>
          <a:cs typeface="MS PGothic" panose="020B0600070205080204" pitchFamily="34" charset="-128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S PGothic" panose="020B0600070205080204" pitchFamily="34" charset="-128"/>
          <a:ea typeface="MS PGothic" panose="020B0600070205080204" pitchFamily="34" charset="-128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S PGothic" panose="020B0600070205080204" pitchFamily="34" charset="-128"/>
          <a:ea typeface="MS PGothic" panose="020B0600070205080204" pitchFamily="34" charset="-128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S PGothic" panose="020B0600070205080204" pitchFamily="34" charset="-128"/>
          <a:ea typeface="MS PGothic" panose="020B0600070205080204" pitchFamily="34" charset="-128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S PGothic" panose="020B0600070205080204" pitchFamily="34" charset="-128"/>
          <a:ea typeface="MS PGothic" panose="020B0600070205080204" pitchFamily="34" charset="-128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S PGothic" panose="020B0600070205080204" pitchFamily="34" charset="-128"/>
          <a:ea typeface="MS PGothic" panose="020B0600070205080204" pitchFamily="34" charset="-128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32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¿</a:t>
            </a:r>
            <a:r>
              <a:rPr lang="en-GB" dirty="0" err="1"/>
              <a:t>Qué</a:t>
            </a:r>
            <a:r>
              <a:rPr lang="en-GB" dirty="0"/>
              <a:t> es OAuth 2.0?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32" y="10"/>
            <a:ext cx="12192001" cy="6857990"/>
          </a:xfrm>
          <a:prstGeom prst="rect">
            <a:avLst/>
          </a:prstGeom>
        </p:spPr>
      </p:pic>
      <p:pic>
        <p:nvPicPr>
          <p:cNvPr id="4" name="Picture 3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32099A33-E6DA-EA0A-2072-F283C6215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151" y="1249491"/>
            <a:ext cx="5493348" cy="43590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284" y="2081920"/>
            <a:ext cx="4346767" cy="2420504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¿Como se </a:t>
            </a:r>
            <a:r>
              <a:rPr lang="en-GB" dirty="0" err="1"/>
              <a:t>origina</a:t>
            </a:r>
            <a:r>
              <a:rPr lang="en-GB" dirty="0"/>
              <a:t>?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255310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1609" b="-1"/>
          <a:stretch/>
        </p:blipFill>
        <p:spPr>
          <a:xfrm>
            <a:off x="-8623" y="10"/>
            <a:ext cx="6265647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626" y="234501"/>
            <a:ext cx="5181591" cy="841363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 err="1">
                <a:effectLst/>
              </a:rPr>
              <a:t>Conceptos</a:t>
            </a:r>
            <a:r>
              <a:rPr lang="en-US" sz="4800" b="1" dirty="0">
                <a:effectLst/>
              </a:rPr>
              <a:t> clave</a:t>
            </a:r>
            <a:r>
              <a:rPr lang="en-US" sz="4000" b="1" dirty="0">
                <a:effectLst/>
              </a:rPr>
              <a:t>	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C285B17-25F5-CB7F-408B-0787E21F91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0412" y="2151727"/>
            <a:ext cx="50282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access token </a:t>
            </a:r>
          </a:p>
          <a:p>
            <a:pPr marL="457200" indent="-4572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indent="-4572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Los scopes</a:t>
            </a:r>
          </a:p>
          <a:p>
            <a:pPr marL="457200" indent="-4572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indent="-4572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authorization server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E41DFD-E557-F2C8-A3B4-E07BAF93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59" r="8768" b="28554"/>
          <a:stretch/>
        </p:blipFill>
        <p:spPr>
          <a:xfrm flipH="1">
            <a:off x="10351232" y="0"/>
            <a:ext cx="18407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E6DA72-65D2-6F20-8F53-3507FE82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02840"/>
            <a:ext cx="10353762" cy="1257300"/>
          </a:xfrm>
        </p:spPr>
        <p:txBody>
          <a:bodyPr/>
          <a:lstStyle/>
          <a:p>
            <a:r>
              <a:rPr lang="en-GB" dirty="0" err="1"/>
              <a:t>Flujo</a:t>
            </a:r>
            <a:r>
              <a:rPr lang="en-GB" dirty="0"/>
              <a:t> </a:t>
            </a:r>
            <a:r>
              <a:rPr lang="en-GB" dirty="0" err="1"/>
              <a:t>recomendado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2C5E7-F3F4-B304-18CE-69BA82DCA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2" t="658" r="55126" b="397"/>
          <a:stretch/>
        </p:blipFill>
        <p:spPr>
          <a:xfrm>
            <a:off x="0" y="-30420"/>
            <a:ext cx="1830120" cy="6888420"/>
          </a:xfrm>
          <a:prstGeom prst="rect">
            <a:avLst/>
          </a:prstGeom>
        </p:spPr>
      </p:pic>
      <p:pic>
        <p:nvPicPr>
          <p:cNvPr id="1028" name="Picture 4" descr="Introducción a OAuth 2.0 | Apigee Edge | Apigee Docs">
            <a:extLst>
              <a:ext uri="{FF2B5EF4-FFF2-40B4-BE49-F238E27FC236}">
                <a16:creationId xmlns:a16="http://schemas.microsoft.com/office/drawing/2014/main" id="{B5D8DA2C-E95F-8ACF-C5C3-B50753F87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315" y="1066457"/>
            <a:ext cx="7415369" cy="552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00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E41DFD-E557-F2C8-A3B4-E07BAF93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59" r="8768" b="28554"/>
          <a:stretch/>
        </p:blipFill>
        <p:spPr>
          <a:xfrm flipH="1">
            <a:off x="10351232" y="0"/>
            <a:ext cx="18407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E6DA72-65D2-6F20-8F53-3507FE82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02840"/>
            <a:ext cx="10353762" cy="1257300"/>
          </a:xfrm>
        </p:spPr>
        <p:txBody>
          <a:bodyPr/>
          <a:lstStyle/>
          <a:p>
            <a:r>
              <a:rPr lang="en-GB" dirty="0" err="1"/>
              <a:t>Flujo</a:t>
            </a:r>
            <a:r>
              <a:rPr lang="en-GB" dirty="0"/>
              <a:t> </a:t>
            </a:r>
            <a:r>
              <a:rPr lang="en-GB" dirty="0" err="1"/>
              <a:t>recomendado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C2C5E7-F3F4-B304-18CE-69BA82DCA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2" t="658" r="55126" b="397"/>
          <a:stretch/>
        </p:blipFill>
        <p:spPr>
          <a:xfrm>
            <a:off x="0" y="-30420"/>
            <a:ext cx="1830120" cy="6888420"/>
          </a:xfrm>
          <a:prstGeom prst="rect">
            <a:avLst/>
          </a:prstGeom>
        </p:spPr>
      </p:pic>
      <p:pic>
        <p:nvPicPr>
          <p:cNvPr id="2053" name="Picture 5" descr="OAuth 2.0 con SpringBoot - Somos Hackers de la Programación">
            <a:extLst>
              <a:ext uri="{FF2B5EF4-FFF2-40B4-BE49-F238E27FC236}">
                <a16:creationId xmlns:a16="http://schemas.microsoft.com/office/drawing/2014/main" id="{10B8D1AF-BE20-C5E7-302C-C7F69FD572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96" y="1154460"/>
            <a:ext cx="7886608" cy="532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01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CC22-A256-CD21-2226-AB62FA61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 err="1">
                <a:effectLst/>
              </a:rPr>
              <a:t>Autenticación</a:t>
            </a:r>
            <a:r>
              <a:rPr lang="en-GB" sz="5400" dirty="0">
                <a:effectLst/>
              </a:rPr>
              <a:t> vs </a:t>
            </a:r>
            <a:r>
              <a:rPr lang="en-GB" sz="5400" dirty="0" err="1">
                <a:effectLst/>
              </a:rPr>
              <a:t>Autorización</a:t>
            </a:r>
            <a:endParaRPr lang="en-GB" sz="5400" dirty="0">
              <a:effectLst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A17C13-D2DC-215B-6C2B-1C5AC409F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2076450"/>
            <a:ext cx="9286357" cy="3714749"/>
          </a:xfrm>
        </p:spPr>
        <p:txBody>
          <a:bodyPr/>
          <a:lstStyle/>
          <a:p>
            <a:r>
              <a:rPr lang="es-ES" sz="3200" b="1" dirty="0"/>
              <a:t>Autenticación</a:t>
            </a:r>
            <a:r>
              <a:rPr lang="es-ES" sz="3200" dirty="0"/>
              <a:t> → quién es el usuario</a:t>
            </a:r>
          </a:p>
          <a:p>
            <a:r>
              <a:rPr lang="en-GB" sz="3200" b="1" dirty="0" err="1"/>
              <a:t>Autorización</a:t>
            </a:r>
            <a:r>
              <a:rPr lang="en-GB" sz="3200" dirty="0"/>
              <a:t> → </a:t>
            </a:r>
            <a:r>
              <a:rPr lang="en-GB" sz="3200" dirty="0" err="1"/>
              <a:t>qué</a:t>
            </a:r>
            <a:r>
              <a:rPr lang="en-GB" sz="3200" dirty="0"/>
              <a:t> </a:t>
            </a:r>
            <a:r>
              <a:rPr lang="en-GB" sz="3200" dirty="0" err="1"/>
              <a:t>permisos</a:t>
            </a:r>
            <a:r>
              <a:rPr lang="en-GB" sz="3200" dirty="0"/>
              <a:t> </a:t>
            </a:r>
            <a:r>
              <a:rPr lang="en-GB" sz="3200" dirty="0" err="1"/>
              <a:t>tiene</a:t>
            </a:r>
            <a:endParaRPr lang="es-ES" sz="3200" dirty="0"/>
          </a:p>
          <a:p>
            <a:r>
              <a:rPr lang="en-GB" sz="3200" dirty="0"/>
              <a:t>OAuth 2.0 = </a:t>
            </a:r>
            <a:r>
              <a:rPr lang="en-GB" sz="3200" b="1" dirty="0" err="1"/>
              <a:t>autorización</a:t>
            </a:r>
            <a:endParaRPr lang="en-GB" sz="3200" b="1" dirty="0"/>
          </a:p>
          <a:p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0C1670-AF3E-D713-4DA8-4F30D32D2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9" t="231" r="37908" b="143"/>
          <a:stretch/>
        </p:blipFill>
        <p:spPr>
          <a:xfrm rot="16200000">
            <a:off x="5180940" y="-107340"/>
            <a:ext cx="183012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35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{54F02F70-454D-4692-8B5D-548F448B8B06}TFe742eee6-54b3-45e8-a03d-f3d997f9b6caf6c338c2_win32-3734725ae7e2</Template>
  <TotalTime>176</TotalTime>
  <Words>417</Words>
  <Application>Microsoft Office PowerPoint</Application>
  <PresentationFormat>Widescreen</PresentationFormat>
  <Paragraphs>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MS PGothic</vt:lpstr>
      <vt:lpstr>Arial</vt:lpstr>
      <vt:lpstr>Calibri</vt:lpstr>
      <vt:lpstr>Goudy Old Style</vt:lpstr>
      <vt:lpstr>Wingdings 2</vt:lpstr>
      <vt:lpstr>SlateVTI</vt:lpstr>
      <vt:lpstr>¿Qué es OAuth 2.0?</vt:lpstr>
      <vt:lpstr>¿Como se origina?</vt:lpstr>
      <vt:lpstr>Conceptos clave </vt:lpstr>
      <vt:lpstr>Flujo recomendado</vt:lpstr>
      <vt:lpstr>Flujo recomendado</vt:lpstr>
      <vt:lpstr>Autenticación vs Autorización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Acosta</dc:creator>
  <cp:lastModifiedBy>Roberto Acosta</cp:lastModifiedBy>
  <cp:revision>4</cp:revision>
  <dcterms:created xsi:type="dcterms:W3CDTF">2026-01-09T11:37:03Z</dcterms:created>
  <dcterms:modified xsi:type="dcterms:W3CDTF">2026-01-09T18:18:32Z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